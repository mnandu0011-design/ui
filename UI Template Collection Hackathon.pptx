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</ns0:sldIdLst>
  <ns0:sldSz cx="12192000" cy="6858000" type="screen4x3"/>
  <ns0:notesSz cx="6858000" cy="9144000"/>
  <ns0:embeddedFontLst>
    <ns0:embeddedFont>
      <ns0:font typeface="Inter"/>
      <ns0:bold ns1:id="rIdFont30"/>
      <ns0:regular ns1:id="rIdFont31"/>
    </ns0:embeddedFont>
    <ns0:embeddedFont>
      <ns0:font typeface="JetBrains Mono"/>
      <ns0:bold ns1:id="rIdFont32"/>
      <ns0:regular ns1:id="rIdFont3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Font30" Type="http://schemas.openxmlformats.org/officeDocument/2006/relationships/font" Target="fonts/bf02150b-de62-4e5e-b4b5-8e8ed8632bb9.fntdata" /><ns0:Relationship Id="rIdFont31" Type="http://schemas.openxmlformats.org/officeDocument/2006/relationships/font" Target="fonts/f5fe216d-2024-4765-ba2f-5998acb65172.fntdata" /><ns0:Relationship Id="rIdFont32" Type="http://schemas.openxmlformats.org/officeDocument/2006/relationships/font" Target="fonts/a8d923c6-caed-4324-84aa-d91714b0637e.fntdata" /><ns0:Relationship Id="rIdFont33" Type="http://schemas.openxmlformats.org/officeDocument/2006/relationships/font" Target="fonts/6fb2fed9-55b6-4258-8e11-e2cbdf4744a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245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10725" y="609600"/>
            <a:ext cx="1971675" cy="295275"/>
          </a:xfrm>
          <a:prstGeom prst="roundRect">
            <a:avLst>
              <a:gd name="adj" fmla="val 50000"/>
            </a:avLst>
          </a:prstGeom>
          <a:solidFill>
            <a:srgbClr val="1D2537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80420"/>
            <a:ext cx="1428750" cy="295275"/>
          </a:xfrm>
          <a:prstGeom prst="roundRect">
            <a:avLst>
              <a:gd name="adj" fmla="val 19354"/>
            </a:avLst>
          </a:prstGeom>
          <a:solidFill>
            <a:srgbClr val="132651"/>
          </a:solidFill>
          <a:ln w="9525">
            <a:solidFill>
              <a:srgbClr val="1C3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52650" y="4080420"/>
            <a:ext cx="1619250" cy="295275"/>
          </a:xfrm>
          <a:prstGeom prst="roundRect">
            <a:avLst>
              <a:gd name="adj" fmla="val 19354"/>
            </a:avLst>
          </a:prstGeom>
          <a:solidFill>
            <a:srgbClr val="132651"/>
          </a:solidFill>
          <a:ln w="9525">
            <a:solidFill>
              <a:srgbClr val="1C3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86200" y="4080420"/>
            <a:ext cx="1819275" cy="295275"/>
          </a:xfrm>
          <a:prstGeom prst="roundRect">
            <a:avLst>
              <a:gd name="adj" fmla="val 19354"/>
            </a:avLst>
          </a:prstGeom>
          <a:solidFill>
            <a:srgbClr val="132651"/>
          </a:solidFill>
          <a:ln w="9525">
            <a:solidFill>
              <a:srgbClr val="1C3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489995"/>
            <a:ext cx="1619250" cy="295275"/>
          </a:xfrm>
          <a:prstGeom prst="roundRect">
            <a:avLst>
              <a:gd name="adj" fmla="val 19354"/>
            </a:avLst>
          </a:prstGeom>
          <a:solidFill>
            <a:srgbClr val="132651"/>
          </a:solidFill>
          <a:ln w="9525">
            <a:solidFill>
              <a:srgbClr val="1C3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59" y="1795462"/>
            <a:ext cx="4217640" cy="3238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84" y="1804987"/>
            <a:ext cx="4198590" cy="3219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166145"/>
            <a:ext cx="1047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525" y="4166145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075" y="4166145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575720"/>
            <a:ext cx="13335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676275"/>
            <a:ext cx="3762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Inter"/>
              </a:rPr>
              <a:t>ACADEMIC PROJECT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3125" y="666750"/>
            <a:ext cx="17621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Node.js + Vanilla JS +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86475"/>
            <a:ext cx="209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Team Collaboration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1225" y="6086475"/>
            <a:ext cx="2226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Faculty Demonstration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044154"/>
            <a:ext cx="78724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Inter"/>
              </a:rPr>
              <a:t>Enterprise Dashboard &amp; AI Interface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348954"/>
            <a:ext cx="6712870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FFFFF"/>
                </a:solidFill>
                <a:latin typeface="Inter"/>
              </a:rPr>
              <a:t>UI Template Collection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547020"/>
            <a:ext cx="787244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GitHub Team Collaboration &amp; Modern Enterprise AI UI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4137570"/>
            <a:ext cx="1257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C5FD"/>
                </a:solidFill>
                <a:latin typeface="Inter"/>
              </a:rPr>
              <a:t>HTML5 &amp; CSS3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137570"/>
            <a:ext cx="1447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C5FD"/>
                </a:solidFill>
                <a:latin typeface="Inter"/>
              </a:rPr>
              <a:t>JavaScript (ES6+)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9550" y="4137570"/>
            <a:ext cx="16478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C5FD"/>
                </a:solidFill>
                <a:latin typeface="Inter"/>
              </a:rPr>
              <a:t>Node.js HTTP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4547145"/>
            <a:ext cx="1447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C5FD"/>
                </a:solidFill>
                <a:latin typeface="Inter"/>
              </a:rPr>
              <a:t>Git &amp; GitHub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6740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57425"/>
            <a:ext cx="50673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5100" y="2257425"/>
            <a:ext cx="50673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533650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253365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2647950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2647950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Dual-Pillar Project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726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CORE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0" y="457200"/>
            <a:ext cx="2690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UI Template Collection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2625" y="3328987"/>
            <a:ext cx="66675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2563EB"/>
                </a:solidFill>
                <a:latin typeface="Inter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6038850"/>
            <a:ext cx="246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Project Integration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750" y="6043612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0A5FA"/>
                </a:solidFill>
                <a:latin typeface="Inter"/>
              </a:rPr>
              <a:t>Enterprise UI Design + Structured GitHub Workflow = Production-Ready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105150"/>
            <a:ext cx="59257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UI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105150"/>
            <a:ext cx="54006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GitHub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448050"/>
            <a:ext cx="5643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Modern Templates: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Responsive enterprise layouts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705225"/>
            <a:ext cx="5643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AI &amp; Analytics: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Conversational and data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962400"/>
            <a:ext cx="5643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Interactive UI: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Dynamic DOM visual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219575"/>
            <a:ext cx="5643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Backend Integration: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Fetch API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325" y="3448050"/>
            <a:ext cx="5400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Repository Forking: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Independent workspace copies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3705225"/>
            <a:ext cx="5400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Feature Branching: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Safe parallel feature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3962400"/>
            <a:ext cx="5400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Pull Requests: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Peer reviews before merging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325" y="4219575"/>
            <a:ext cx="5400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Version Control: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Conflict-free main branch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8412"/>
            <a:ext cx="2600325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538412"/>
            <a:ext cx="2600325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538412"/>
            <a:ext cx="2600325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538412"/>
            <a:ext cx="2600325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0" y="6310312"/>
            <a:ext cx="71532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77653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776537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776537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2776537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Implemented UI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2357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COMPONENT TAXONOMY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7475" y="457200"/>
            <a:ext cx="1631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4 Core UI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38875"/>
            <a:ext cx="178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20+ Interactive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6425" y="6238875"/>
            <a:ext cx="2607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Modular Component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1384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Modern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4337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Core customer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1384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Analytics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4337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Visual reporting screens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1384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AI Interfaces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4337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Conversational UI 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1384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AI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4337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Automated task 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70998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Customer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9290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Company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14813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Projects &amp;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36721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Auth Login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8550" y="370998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Analytics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8550" y="39290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Revenue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8550" y="414813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Marketing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436721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Real-Time Feed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370998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AI Chat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39290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Interactive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414813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Smart Suggestions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9375" y="436721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Dynamic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0200" y="370998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Agent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0200" y="392906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Agent Workflow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0200" y="414813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Activity 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0200" y="4367212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Task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72175"/>
            <a:ext cx="10972800" cy="428625"/>
          </a:xfrm>
          <a:prstGeom prst="roundRect">
            <a:avLst>
              <a:gd name="adj" fmla="val 177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59397"/>
            <a:ext cx="5543550" cy="1920031"/>
          </a:xfrm>
          <a:prstGeom prst="roundRect">
            <a:avLst>
              <a:gd name="adj" fmla="val 59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6050" y="2414587"/>
            <a:ext cx="508635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6050" y="2995612"/>
            <a:ext cx="508635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6050" y="3576637"/>
            <a:ext cx="508635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6050" y="4157662"/>
            <a:ext cx="508635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96075" y="2538412"/>
            <a:ext cx="762000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96075" y="3119437"/>
            <a:ext cx="762000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6075" y="3700462"/>
            <a:ext cx="762000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96075" y="4281487"/>
            <a:ext cx="762000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Project Architecture &amp; File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2250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6475" y="457200"/>
            <a:ext cx="2107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Directory &amp;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6105525"/>
            <a:ext cx="246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Clean Separation of Concerns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825" y="6105525"/>
            <a:ext cx="4036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3A8A"/>
                </a:solidFill>
                <a:latin typeface="Inter"/>
              </a:rPr>
              <a:t>Presentation → Styling → Interaction →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787997"/>
            <a:ext cx="635793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975" i="0" u="none">
                <a:solidFill>
                  <a:srgbClr val="60A5FA"/>
                </a:solidFill>
                <a:latin typeface="JetBrains Mono"/>
              </a:rPr>
              <a:t>UI Template Collection/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062287"/>
            <a:ext cx="635793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├──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Frontend Pages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(index, customer, ai-chat, analytics)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260377"/>
            <a:ext cx="635793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├──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Styling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(agent.css - shared design tokens)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458467"/>
            <a:ext cx="635793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├──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JavaScript Logic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(agent.js, api.js - API client)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656558"/>
            <a:ext cx="635793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├──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Backend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(backend/server.js - HTTP REST API)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854648"/>
            <a:ext cx="635793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├──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Data Store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(data/db.json - persistent DB)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052738"/>
            <a:ext cx="635793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└── package.json (npm scripts)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76512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HTML5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475" y="2566987"/>
            <a:ext cx="4202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Defines page structure, DOM elements &amp; form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157537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CSS3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0475" y="3148012"/>
            <a:ext cx="4476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Controls global layout, cards, responsive grids &amp;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738562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JS (ES6)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0475" y="3729037"/>
            <a:ext cx="4548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Manages DOM updates, chat flow &amp; API communications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319587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Node.js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0475" y="4310062"/>
            <a:ext cx="3869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Lightweight HTTP server serving JSON API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19800" y="2305050"/>
            <a:ext cx="5562600" cy="2371725"/>
          </a:xfrm>
          <a:prstGeom prst="roundRect">
            <a:avLst>
              <a:gd name="adj" fmla="val 48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HTML – Application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2071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25075" y="457200"/>
            <a:ext cx="1821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HTML5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6067425"/>
            <a:ext cx="11315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HTML defines content and semantic markup without styling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767012"/>
            <a:ext cx="67008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Structural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2962275"/>
            <a:ext cx="520065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monospace"/>
              </a:rPr>
              <a:t> AI Chat Interface Ask about revenue, activity &amp; workflows.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148012"/>
            <a:ext cx="6381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Semantic Markup: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Organizes content via headers, sections &amp;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43287"/>
            <a:ext cx="6381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Navigation Links: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Connects 20+ templates into a unified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738562"/>
            <a:ext cx="6381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Card Containers: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Establishes UI boundaries for KPI 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033837"/>
            <a:ext cx="6381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Form Controls: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Provides inputs for AI query submissions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2533650"/>
            <a:ext cx="166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ai-chat.html snippet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0425" y="2533650"/>
            <a:ext cx="619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HTML5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76925"/>
            <a:ext cx="10972800" cy="523875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14525"/>
            <a:ext cx="5562600" cy="3114675"/>
          </a:xfrm>
          <a:prstGeom prst="roundRect">
            <a:avLst>
              <a:gd name="adj" fmla="val 366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8200" y="6029325"/>
            <a:ext cx="1276350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CSS – Design &amp; Responsive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643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STYLING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0325" y="457200"/>
            <a:ext cx="1702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Centralized agent.css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6067425"/>
            <a:ext cx="1181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DESIGN INVARIANT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6950" y="6057900"/>
            <a:ext cx="5560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HTML provides what the element is — CSS controls how it appears.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571750"/>
            <a:ext cx="5200650" cy="2228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monospace"/>
              </a:rPr>
              <a:t>.kpi-card { padding: 24px; border-radius: 16px; background: #ffffff; border: 1px solid #e2e8f0; box-shadow: 0 4px 6px -1px rgba(0,0,0,0.1); transition: transform 0.2s ease; } .kpi-card:hover { transform: translateY(-2px);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747962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Global CSS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143125"/>
            <a:ext cx="14192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agent.css excerpt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6900" y="2143125"/>
            <a:ext cx="5524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128962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Visual Cohesion: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Shared palette across all 20+ HTML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424237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Layout Controls: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Flexbox &amp; CSS Grids for dynamic resizing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719512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Component Design: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Styled KPI cards, badges, sidebars &amp;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014787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Interactive Feedback: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Hover elevation effects &amp; active states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531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8425"/>
            <a:ext cx="4918323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94623" y="1985962"/>
            <a:ext cx="5787776" cy="30480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23223" y="2509837"/>
            <a:ext cx="5330576" cy="352425"/>
          </a:xfrm>
          <a:prstGeom prst="roundRect">
            <a:avLst>
              <a:gd name="adj" fmla="val 16216"/>
            </a:avLst>
          </a:prstGeom>
          <a:solidFill>
            <a:srgbClr val="22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3223" y="3157537"/>
            <a:ext cx="5330576" cy="352425"/>
          </a:xfrm>
          <a:prstGeom prst="roundRect">
            <a:avLst>
              <a:gd name="adj" fmla="val 16216"/>
            </a:avLst>
          </a:prstGeom>
          <a:solidFill>
            <a:srgbClr val="22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3223" y="3805237"/>
            <a:ext cx="5330576" cy="352425"/>
          </a:xfrm>
          <a:prstGeom prst="roundRect">
            <a:avLst>
              <a:gd name="adj" fmla="val 16216"/>
            </a:avLst>
          </a:prstGeom>
          <a:solidFill>
            <a:srgbClr val="22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3223" y="4452937"/>
            <a:ext cx="5330576" cy="352425"/>
          </a:xfrm>
          <a:prstGeom prst="roundRect">
            <a:avLst>
              <a:gd name="adj" fmla="val 1621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574" y="2957512"/>
            <a:ext cx="85725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574" y="3605212"/>
            <a:ext cx="85725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574" y="4252912"/>
            <a:ext cx="85725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JavaScript – Interactivity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333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CLIENT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1775" y="457200"/>
            <a:ext cx="1488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Dynamic Behaviors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6096000"/>
            <a:ext cx="1821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agent.js Logic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2350" y="6096000"/>
            <a:ext cx="48196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Powers dynamic chat and DOM states without full page reloads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876550"/>
            <a:ext cx="583022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Core Client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3223" y="2214562"/>
            <a:ext cx="616877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0A5FA"/>
                </a:solidFill>
                <a:latin typeface="Inter"/>
              </a:rPr>
              <a:t>AI CHAT EVENT LIFECYCLE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209925"/>
            <a:ext cx="555259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AI Chat Pipeline: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Message handling &amp; string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467100"/>
            <a:ext cx="555259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Dynamic Filtering: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Real-time chart period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724275"/>
            <a:ext cx="555259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Node Workflows: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Interactive step selection handlers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981450"/>
            <a:ext cx="555259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API Communication: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Centralized Fetch API wrappers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5623" y="2605087"/>
            <a:ext cx="512102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User enters message ➔ Click Send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5623" y="3252787"/>
            <a:ext cx="512102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sendMessage() ➔ Appends to DOM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5623" y="3900487"/>
            <a:ext cx="512102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generateAIResponse() ➔ Evaluates query intent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5623" y="4548187"/>
            <a:ext cx="512102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JetBrains Mono"/>
              </a:rPr>
              <a:t>Render AI response into chat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81650" y="2481262"/>
            <a:ext cx="6000750" cy="2028825"/>
          </a:xfrm>
          <a:prstGeom prst="roundRect">
            <a:avLst>
              <a:gd name="adj" fmla="val 5633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81675" y="2681287"/>
            <a:ext cx="5600700" cy="162877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224212"/>
            <a:ext cx="4667250" cy="542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881437"/>
            <a:ext cx="4667250" cy="542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24212"/>
            <a:ext cx="3810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881437"/>
            <a:ext cx="38100" cy="5429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91675" y="3395662"/>
            <a:ext cx="1638300" cy="30480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34075" y="3795712"/>
            <a:ext cx="3143250" cy="361950"/>
          </a:xfrm>
          <a:prstGeom prst="roundRect">
            <a:avLst>
              <a:gd name="adj" fmla="val 31578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075" y="2833687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2919412"/>
            <a:ext cx="171450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AI Chat Interface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6057900"/>
            <a:ext cx="10610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Note: Demonstrates enterprise assistant UX patterns cleanly without external paid LLM API dependencies.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90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FEATURE HIGHLIGHT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4625" y="457200"/>
            <a:ext cx="1559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ai-chat.html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566987"/>
            <a:ext cx="612576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Enterprise Intent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909887"/>
            <a:ext cx="5834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Demonstrates conversational UX patterns for enterprise data retrieval.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338512"/>
            <a:ext cx="540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User Query: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490912"/>
            <a:ext cx="5405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"Show monthly revenue report"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3995737"/>
            <a:ext cx="540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AI Response Generated: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148137"/>
            <a:ext cx="5405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"Monthly revenue is up 18.4% with total MRR of $142,500."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5025" y="3471862"/>
            <a:ext cx="146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Inter"/>
              </a:rPr>
              <a:t>Show monthly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7425" y="3890962"/>
            <a:ext cx="2971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Monthly MRR: $142,500 (+18.4% target growth).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4125" y="2833687"/>
            <a:ext cx="1869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Enterprise AI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125" y="2995612"/>
            <a:ext cx="1869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Online &amp;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72175"/>
            <a:ext cx="10972800" cy="428625"/>
          </a:xfrm>
          <a:prstGeom prst="roundRect">
            <a:avLst>
              <a:gd name="adj" fmla="val 177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6525"/>
            <a:ext cx="4423469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61669" y="2357437"/>
            <a:ext cx="6320730" cy="23241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61694" y="3572916"/>
            <a:ext cx="1365944" cy="679995"/>
          </a:xfrm>
          <a:prstGeom prst="roundRect">
            <a:avLst>
              <a:gd name="adj" fmla="val 5602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80039" y="3346251"/>
            <a:ext cx="1365944" cy="906660"/>
          </a:xfrm>
          <a:prstGeom prst="roundRect">
            <a:avLst>
              <a:gd name="adj" fmla="val 4202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98383" y="3119437"/>
            <a:ext cx="1365944" cy="1133475"/>
          </a:xfrm>
          <a:prstGeom prst="roundRect">
            <a:avLst>
              <a:gd name="adj" fmla="val 336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16728" y="3232844"/>
            <a:ext cx="1365944" cy="1020067"/>
          </a:xfrm>
          <a:prstGeom prst="roundRect">
            <a:avLst>
              <a:gd name="adj" fmla="val 3735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5625" y="2557462"/>
            <a:ext cx="333375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06150" y="2557462"/>
            <a:ext cx="276225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Analytics &amp; Revenue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964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DATA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3700" y="457200"/>
            <a:ext cx="1314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Analytics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6105525"/>
            <a:ext cx="2369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Dynamic Timeframe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6975" y="6105525"/>
            <a:ext cx="5915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3A8A"/>
                </a:solidFill>
                <a:latin typeface="Inter"/>
              </a:rPr>
              <a:t>Selecting period options re-indexes datasets and renders chart bars dynamically.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914650"/>
            <a:ext cx="518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Analytics Suite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248025"/>
            <a:ext cx="49340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Analytics Dashboard: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Unified core metric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486150"/>
            <a:ext cx="49340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Revenue Charts: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Comparative growth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724275"/>
            <a:ext cx="49340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Marketing Analytics: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Channel acquisition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962400"/>
            <a:ext cx="49340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Real-Time Feed: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Live event activity streams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694" y="2576512"/>
            <a:ext cx="2345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Revenue Growth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694" y="4338637"/>
            <a:ext cx="9239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Q1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304" y="4338637"/>
            <a:ext cx="9429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Q2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7964" y="4338637"/>
            <a:ext cx="9429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Q3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5625" y="4338637"/>
            <a:ext cx="952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Q4 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91825" y="2595562"/>
            <a:ext cx="276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3M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350" y="2595562"/>
            <a:ext cx="2190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1Y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52737"/>
            <a:ext cx="2405062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1862" y="2852737"/>
            <a:ext cx="2405062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4125" y="2852737"/>
            <a:ext cx="2405062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96387" y="2862262"/>
            <a:ext cx="2386012" cy="1276350"/>
          </a:xfrm>
          <a:prstGeom prst="roundRect">
            <a:avLst>
              <a:gd name="adj" fmla="val 8955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21631" y="30527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3893" y="30527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46156" y="30527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98893" y="30527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18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2" y="3414712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414712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414712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AI Agent Task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90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WORKFLOW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6450" y="457200"/>
            <a:ext cx="2357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workflow.html Interactive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086475"/>
            <a:ext cx="2297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Inter"/>
              </a:rPr>
              <a:t>Interactive Node Mechanics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6086475"/>
            <a:ext cx="54197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Users click stage nodes to trigger dynamic panel details in workflow.html.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8756" y="305276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341" y="3548062"/>
            <a:ext cx="263157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User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998" y="3795712"/>
            <a:ext cx="250626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Task submitted by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1018" y="305276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8604" y="3548062"/>
            <a:ext cx="263157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1260" y="3795712"/>
            <a:ext cx="250626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Identifies intent &amp;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3281" y="305276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0866" y="3548062"/>
            <a:ext cx="263157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3523" y="3795712"/>
            <a:ext cx="250626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Processes data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6018" y="305276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3604" y="3548062"/>
            <a:ext cx="263157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Generate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6260" y="3795712"/>
            <a:ext cx="250626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BFDBFE"/>
                </a:solidFill>
                <a:latin typeface="Inter"/>
              </a:rPr>
              <a:t>Renders actionable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52762"/>
            <a:ext cx="2395537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81387" y="3052762"/>
            <a:ext cx="2395537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3175" y="3062287"/>
            <a:ext cx="2376487" cy="8572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05912" y="3062287"/>
            <a:ext cx="2376487" cy="8572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37" y="3414712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25" y="3414712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162" y="3414712"/>
            <a:ext cx="952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Frontend + Backend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2619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FULL-STACK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7450" y="457200"/>
            <a:ext cx="1881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Client-Server Data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6067425"/>
            <a:ext cx="11315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Inter"/>
              </a:rPr>
              <a:t>Modular Fetch Wrapper (`api.js`) centralizes async requests and returns parsed JSON.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376" y="3233737"/>
            <a:ext cx="25419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Inter"/>
              </a:rPr>
              <a:t>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376" y="3414712"/>
            <a:ext cx="25419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Browser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376" y="3595687"/>
            <a:ext cx="254198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HTML / CSS /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8164" y="3233737"/>
            <a:ext cx="25419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Inter"/>
              </a:rPr>
              <a:t>CLIENT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164" y="3414712"/>
            <a:ext cx="25419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api.js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164" y="3595687"/>
            <a:ext cx="254198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Fetch API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0426" y="3233737"/>
            <a:ext cx="25419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0A5FA"/>
                </a:solidFill>
                <a:latin typeface="Inter"/>
              </a:rPr>
              <a:t>HTTP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0426" y="3414712"/>
            <a:ext cx="25419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Inter"/>
              </a:rPr>
              <a:t>backend/server.js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0426" y="3595687"/>
            <a:ext cx="254198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Node.js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164" y="3233737"/>
            <a:ext cx="25419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0A5FA"/>
                </a:solidFill>
                <a:latin typeface="Inter"/>
              </a:rPr>
              <a:t>DATA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164" y="3414712"/>
            <a:ext cx="25419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Inter"/>
              </a:rPr>
              <a:t>data/db.json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3164" y="3595687"/>
            <a:ext cx="254198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JSON Database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531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55605" y="1952625"/>
            <a:ext cx="6026794" cy="3114675"/>
          </a:xfrm>
          <a:prstGeom prst="roundRect">
            <a:avLst>
              <a:gd name="adj" fmla="val 366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Node.js Backend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246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SERVER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7975" y="457200"/>
            <a:ext cx="14001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backend/server.js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96000"/>
            <a:ext cx="2107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Run Command: npm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6300" y="6096000"/>
            <a:ext cx="3559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Lightweight native Node.js HTTP web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62262"/>
            <a:ext cx="60915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Server Endpoint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4205" y="2609850"/>
            <a:ext cx="5664844" cy="2228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monospace"/>
              </a:rPr>
              <a:t>const http = require('http'); const fs = require('fs'); const server = http.createServer((req, res) =&gt; { if (req.url === '/api/analytics') { const data = fs.readFileSync('./data/db.json'); res.writeHead(200, { 'Content-Type': 'application/json' }); res.end(data); } }); server.listen(3000, () =&gt; console.log('Server live on 3000'));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24212"/>
            <a:ext cx="58015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HTTP Routing: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Handles incoming API request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81387"/>
            <a:ext cx="58015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Data Persistence: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Reads and writes updates to `db.json`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738562"/>
            <a:ext cx="58015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Auth &amp; Sessions: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Handles mock login and user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995737"/>
            <a:ext cx="58015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Agent Data API: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Delivers notifications &amp;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4205" y="2181225"/>
            <a:ext cx="14192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server.js snippet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3700" y="2181225"/>
            <a:ext cx="10858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Node.js HTTP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72175"/>
            <a:ext cx="10972800" cy="428625"/>
          </a:xfrm>
          <a:prstGeom prst="roundRect">
            <a:avLst>
              <a:gd name="adj" fmla="val 177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76725"/>
            <a:ext cx="1488578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3428" y="4276725"/>
            <a:ext cx="1488578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77257" y="4276725"/>
            <a:ext cx="1488578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61086" y="4276725"/>
            <a:ext cx="1488578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4915" y="4276725"/>
            <a:ext cx="1488578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28744" y="4276725"/>
            <a:ext cx="1488578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12573" y="4276725"/>
            <a:ext cx="1469528" cy="352425"/>
          </a:xfrm>
          <a:prstGeom prst="roundRect">
            <a:avLst>
              <a:gd name="adj" fmla="val 1621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09825"/>
            <a:ext cx="10972800" cy="1714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419350"/>
            <a:ext cx="10953750" cy="1695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GitHub Team Collaboration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2166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TEAM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0875" y="457200"/>
            <a:ext cx="1057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Git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6105525"/>
            <a:ext cx="4929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Golden Rule: Zero direct development on the `main` branch.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6105525"/>
            <a:ext cx="5391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3A8A"/>
                </a:solidFill>
                <a:latin typeface="Inter"/>
              </a:rPr>
              <a:t>All updates pass through isolated feature branches and peer PR reviews.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77" y="4371975"/>
            <a:ext cx="16702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1. FORK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2606" y="4371975"/>
            <a:ext cx="16702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2. 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6435" y="4371975"/>
            <a:ext cx="16702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3.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0264" y="4371975"/>
            <a:ext cx="16702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4. DEVELOP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4093" y="4371975"/>
            <a:ext cx="16702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5.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7922" y="4371975"/>
            <a:ext cx="167022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6.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4132" y="4371975"/>
            <a:ext cx="164641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7. PR MERGE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95575"/>
            <a:ext cx="3555950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2695575"/>
            <a:ext cx="3555950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695575"/>
            <a:ext cx="3556099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71875"/>
            <a:ext cx="3555950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7950" y="3571875"/>
            <a:ext cx="3555950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300" y="3571875"/>
            <a:ext cx="3556099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Git Commands Executed in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057900"/>
            <a:ext cx="10610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Isolated command usage enabled safe parallel development for all team members.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242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DEVELOPER CHEAT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0" y="457200"/>
            <a:ext cx="1738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CLI Terminal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847975"/>
            <a:ext cx="3346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JetBrains Mono"/>
              </a:rPr>
              <a:t># Clone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350" y="2847975"/>
            <a:ext cx="3346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JetBrains Mono"/>
              </a:rPr>
              <a:t># Create Feature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8700" y="2847975"/>
            <a:ext cx="33465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JetBrains Mono"/>
              </a:rPr>
              <a:t># Inspect Branch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724275"/>
            <a:ext cx="3346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JetBrains Mono"/>
              </a:rPr>
              <a:t># Stage Visual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350" y="3724275"/>
            <a:ext cx="3346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JetBrains Mono"/>
              </a:rPr>
              <a:t># Commit Feature Delta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8700" y="3724275"/>
            <a:ext cx="33465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JetBrains Mono"/>
              </a:rPr>
              <a:t># Push Upstream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105150"/>
            <a:ext cx="406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git clone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0350" y="3105150"/>
            <a:ext cx="406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git checkout -b member1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700" y="3105150"/>
            <a:ext cx="40132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git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981450"/>
            <a:ext cx="406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git add 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0350" y="3981450"/>
            <a:ext cx="406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git commit -m "add AI UI"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8700" y="3981450"/>
            <a:ext cx="40132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git push -u origin member1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76462"/>
            <a:ext cx="5785991" cy="2638425"/>
          </a:xfrm>
          <a:prstGeom prst="roundRect">
            <a:avLst>
              <a:gd name="adj" fmla="val 43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00391" y="2643187"/>
            <a:ext cx="4882008" cy="1704975"/>
          </a:xfrm>
          <a:prstGeom prst="roundRect">
            <a:avLst>
              <a:gd name="adj" fmla="val 67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2747962"/>
            <a:ext cx="5309741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233737"/>
            <a:ext cx="5309741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719512"/>
            <a:ext cx="5309741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4205287"/>
            <a:ext cx="5309741" cy="371475"/>
          </a:xfrm>
          <a:prstGeom prst="roundRect">
            <a:avLst>
              <a:gd name="adj" fmla="val 1538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0600" y="2852737"/>
            <a:ext cx="200025" cy="180975"/>
          </a:xfrm>
          <a:prstGeom prst="roundRect">
            <a:avLst>
              <a:gd name="adj" fmla="val 2105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0600" y="3338512"/>
            <a:ext cx="228600" cy="180975"/>
          </a:xfrm>
          <a:prstGeom prst="roundRect">
            <a:avLst>
              <a:gd name="adj" fmla="val 2105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0600" y="3824287"/>
            <a:ext cx="228600" cy="180975"/>
          </a:xfrm>
          <a:prstGeom prst="roundRect">
            <a:avLst>
              <a:gd name="adj" fmla="val 2105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1075" y="4300537"/>
            <a:ext cx="228600" cy="180975"/>
          </a:xfrm>
          <a:prstGeom prst="roundRect">
            <a:avLst>
              <a:gd name="adj" fmla="val 21052"/>
            </a:avLst>
          </a:prstGeom>
          <a:solidFill>
            <a:srgbClr val="40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Pull Request &amp; Peer Code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6057900"/>
            <a:ext cx="10610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GitHub PR logs and commit history reflect total team participation.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2012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QUALITY ASSURANCE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0800" y="457200"/>
            <a:ext cx="1714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Code Review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414587"/>
            <a:ext cx="69690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Review Pipeline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8991" y="2871787"/>
            <a:ext cx="52630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0A5FA"/>
                </a:solidFill>
                <a:latin typeface="Inter"/>
              </a:rPr>
              <a:t>Why PRs Matter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8991" y="3186112"/>
            <a:ext cx="526300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• Prevents accidental overwrites on 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8991" y="3443287"/>
            <a:ext cx="526300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• Ensures consistent code styling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8991" y="3700462"/>
            <a:ext cx="526300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• Tracks individual contribution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8991" y="3957637"/>
            <a:ext cx="526300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• Creates clear Git 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2871787"/>
            <a:ext cx="142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925" y="2862262"/>
            <a:ext cx="3774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Developer pushes branch &amp; opens Pull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3357562"/>
            <a:ext cx="171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3348037"/>
            <a:ext cx="3750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Peer team member reviews code diffs &amp; 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800" y="3843337"/>
            <a:ext cx="171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3500" y="3833812"/>
            <a:ext cx="3286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Fixes submitted if requested by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75" y="4319587"/>
            <a:ext cx="171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3975" y="4310062"/>
            <a:ext cx="3262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PR Approved &amp; safely merged into 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81700"/>
            <a:ext cx="10972800" cy="419100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05050"/>
            <a:ext cx="10972800" cy="24384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305050"/>
          <a:ext cx="10963274" cy="2438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27844"/>
                <a:gridCol w="2955280"/>
                <a:gridCol w="3418284"/>
                <a:gridCol w="3261866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Member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Responsibility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UI Contribution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GitHub Contribution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Member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AI Agent / Agent Dashboard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agent.html, agent.css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Main Repo Admin / PR Reviewer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Member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AI Chat / Customer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ai-chat.html, customer-dashboard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Feature Branch / 8 Commits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Member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Analytics / Marketing View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analytics.html, revenue-charts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Feature Branch / 6 Commits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Member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Reports &amp; Insights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reports.html, activity-report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Feature Branch / PR Reviews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Member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Profile, Payments &amp; 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payments.html, server.js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Backend Integration PRs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Team Contributions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6096000"/>
            <a:ext cx="106870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Editable table layout ready for specific team member assignments.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3239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TEAM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9850" y="457200"/>
            <a:ext cx="1690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Editable Task Division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1775"/>
            <a:ext cx="35052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71775"/>
            <a:ext cx="35052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847975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009900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3009900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086100"/>
            <a:ext cx="2286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Responsive &amp; Modern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714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USER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8900" y="457200"/>
            <a:ext cx="166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Multi-Device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6086475"/>
            <a:ext cx="2738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Inter"/>
              </a:rPr>
              <a:t>Media Queries &amp; Flexbox Layouts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086475"/>
            <a:ext cx="4191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Ensures consistent rendering across browser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451" y="3429000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Desktop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106" y="3686175"/>
            <a:ext cx="37861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Full sidebar navigation + multi-column grid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8251" y="3429000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Tablet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2906" y="3686175"/>
            <a:ext cx="37861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Collapsible sidebar layout + flexible card arrangement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2051" y="3505200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Mobile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706" y="3762375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Single-column stacked layout with touch navigation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43600"/>
            <a:ext cx="10972800" cy="4572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3662"/>
            <a:ext cx="464998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16835" y="2643187"/>
            <a:ext cx="5465564" cy="1724025"/>
          </a:xfrm>
          <a:prstGeom prst="roundRect">
            <a:avLst>
              <a:gd name="adj" fmla="val 662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What Makes Our Project Stand 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076950"/>
            <a:ext cx="10610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Combines professional UI patterns with software engineering teamwork.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2287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5525" y="457200"/>
            <a:ext cx="2083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Competitive Differentiators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6285" y="3367087"/>
            <a:ext cx="609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71787"/>
            <a:ext cx="54780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Traditional Static UI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435" y="2871787"/>
            <a:ext cx="58465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0A5FA"/>
                </a:solidFill>
                <a:latin typeface="Inter"/>
              </a:rPr>
              <a:t>Our Enterprise Template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205162"/>
            <a:ext cx="521716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• Static HTML pages without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462337"/>
            <a:ext cx="521716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• Disconnected single page layouts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719512"/>
            <a:ext cx="521716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• Direct commits on main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976687"/>
            <a:ext cx="521716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• Basic form markup without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435" y="3205162"/>
            <a:ext cx="584656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• Interactive AI &amp; Analytics UI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435" y="3462337"/>
            <a:ext cx="584656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• Unified CSS Design System (`agent.css`)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435" y="3719512"/>
            <a:ext cx="584656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• Full Node.js REST Backend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435" y="3976687"/>
            <a:ext cx="584656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• GitHub Pull Request Team 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24100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4322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62350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8147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25" y="2466975"/>
            <a:ext cx="657225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625" y="3086100"/>
            <a:ext cx="685800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625" y="3705225"/>
            <a:ext cx="685800" cy="21907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0100" y="4314825"/>
            <a:ext cx="685800" cy="219075"/>
          </a:xfrm>
          <a:prstGeom prst="roundRect">
            <a:avLst>
              <a:gd name="adj" fmla="val 17391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Live Demonstration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6057900"/>
            <a:ext cx="10610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Structured demo sequence for an 8–12 minute faculty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2405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PRESENTATION RUNBOOK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2225" y="457200"/>
            <a:ext cx="1750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Faculty Demonstration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2505075"/>
            <a:ext cx="5619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250" y="2490787"/>
            <a:ext cx="542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Main Index ➔ Customer Dashboard ➔ Analytics &amp; Revenue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3124200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7825" y="3109912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AI Chat Interaction ➔ Ask Revenue Query ➔ Interactive Agent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3743325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25" y="3729037"/>
            <a:ext cx="554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Reports &amp; Company Profile Views ➔ Node.js Server Terminal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4352925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8300" y="4338637"/>
            <a:ext cx="542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Inter"/>
              </a:rPr>
              <a:t>GitHub Repo ➔ Branch Log ➔ Commits ➔ Approved Pull Requests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43600"/>
            <a:ext cx="10972800" cy="4572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38412"/>
            <a:ext cx="3530649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538412"/>
            <a:ext cx="3530649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538412"/>
            <a:ext cx="3530649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776537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2776537"/>
            <a:ext cx="2190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2776537"/>
            <a:ext cx="2857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What We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076950"/>
            <a:ext cx="10610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Bridged frontend engineering with modern team version control practices.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881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ACADEMIC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6100" y="457200"/>
            <a:ext cx="11620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Key Learnings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119437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Technical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119437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GitHub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3119437"/>
            <a:ext cx="3901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Teamwork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414712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Semantic HTML5 &amp; CSS3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633787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DOM manipulation via ES6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852862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Fetch API async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071937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Node.js REST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3414712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Repository Fork &amp; Clone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874" y="3633787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Feature Branch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8874" y="3852862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Pull Request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874" y="4071937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Merge conflict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024" y="3414712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Version control discipline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024" y="3633787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Modular task assignments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024" y="3852862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UI system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024" y="4071937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Technical documentation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280344"/>
            <a:ext cx="10972800" cy="19353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76925"/>
            <a:ext cx="10972800" cy="523875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280344"/>
            <a:ext cx="57150" cy="1935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57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9875" y="457200"/>
            <a:ext cx="1440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Project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2623244"/>
            <a:ext cx="10325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F172A"/>
                </a:solidFill>
                <a:latin typeface="Inter"/>
              </a:rPr>
              <a:t>"Our project demonstrates how modern UI development and collaborative software engineering can be combined into a single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3385244"/>
            <a:ext cx="103251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We designed enterprise interfaces using HTML, CSS, and JavaScript, added backend capability using Node.js and JSON data, and executed a GitHub collaboration process using branches, commits, Pull Requests, reviews, and merges."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6048375"/>
            <a:ext cx="3655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0A5FA"/>
                </a:solidFill>
                <a:latin typeface="Inter"/>
              </a:rPr>
              <a:t>Production-Ready Collaboration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0" y="6057900"/>
            <a:ext cx="307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Full-Stack UI + Version Control Mastery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245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09987" y="3400425"/>
            <a:ext cx="4772025" cy="523875"/>
          </a:xfrm>
          <a:prstGeom prst="roundRect">
            <a:avLst>
              <a:gd name="adj" fmla="val 50000"/>
            </a:avLst>
          </a:prstGeom>
          <a:solidFill>
            <a:srgbClr val="1D2537"/>
          </a:solidFill>
          <a:ln w="9525">
            <a:solidFill>
              <a:srgbClr val="33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33812" y="4229100"/>
            <a:ext cx="2228850" cy="352425"/>
          </a:xfrm>
          <a:prstGeom prst="roundRect">
            <a:avLst>
              <a:gd name="adj" fmla="val 2162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3162" y="4229100"/>
            <a:ext cx="2105025" cy="352425"/>
          </a:xfrm>
          <a:prstGeom prst="roundRect">
            <a:avLst>
              <a:gd name="adj" fmla="val 21621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312" y="4343400"/>
            <a:ext cx="1333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62" y="4343400"/>
            <a:ext cx="1333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381000" y="609600"/>
            <a:ext cx="129540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3B82F6"/>
                </a:solidFill>
                <a:latin typeface="Inter"/>
              </a:rPr>
              <a:t>FACULTY EVALUATION &amp;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2114550"/>
            <a:ext cx="12954000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FFFFF"/>
                </a:solidFill>
                <a:latin typeface="Inter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2886075"/>
            <a:ext cx="12954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60A5FA"/>
                </a:solidFill>
                <a:latin typeface="Inter"/>
              </a:rPr>
              <a:t>UI Development + GitHub Collaboration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384" y="3552825"/>
            <a:ext cx="527923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"Learn GitHub. Build UI. Collaborate. Contribute."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281" y="6086475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UI Template Collection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4340" y="6086475"/>
            <a:ext cx="1797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5706" y="4324350"/>
            <a:ext cx="24050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GitHub Repository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0534" y="4324350"/>
            <a:ext cx="225028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Local Node Server Live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7274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https://cdn.vectorstock.com/i/1000v/21/28/modern-blue-dashboard-template-vector-27282128.jpg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www.vectorstock.com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6822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https://www.red-gate.com/simple-talk/wp-content/uploads/2020/12/branching-diagram.png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www.red-gate.com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